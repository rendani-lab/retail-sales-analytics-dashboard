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 Display"/>
              </a:defRPr>
            </a:pPr>
            <a:r>
              <a:t>Retail Sales Analytics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End-to-end business intelligence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Week 5 Final Capstone</a:t>
            </a:r>
          </a:p>
          <a:p>
            <a:pPr>
              <a:spcAft>
                <a:spcPts val="1200"/>
              </a:spcAft>
              <a:defRPr sz="2100"/>
            </a:pPr>
            <a:r>
              <a:t>Superstore dataset | Data cleaning → SQL → dashboard →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 Display"/>
              </a:defRPr>
            </a:pPr>
            <a:r>
              <a:t>Business 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Management needs to understand sales and profit across products, customers, regions, and time.</a:t>
            </a:r>
          </a:p>
          <a:p>
            <a:pPr>
              <a:spcAft>
                <a:spcPts val="1200"/>
              </a:spcAft>
              <a:defRPr sz="2100"/>
            </a:pPr>
            <a:r>
              <a:t>Measure core KPIs and compare performance across business dimensions.</a:t>
            </a:r>
          </a:p>
          <a:p>
            <a:pPr>
              <a:spcAft>
                <a:spcPts val="1200"/>
              </a:spcAft>
              <a:defRPr sz="2100"/>
            </a:pPr>
            <a:r>
              <a:t>Identify high-performing areas, loss-making sub-categories, and opportunities to improve margins.</a:t>
            </a:r>
          </a:p>
          <a:p>
            <a:pPr>
              <a:spcAft>
                <a:spcPts val="1200"/>
              </a:spcAft>
              <a:defRPr sz="2100"/>
            </a:pPr>
            <a:r>
              <a:t>Provide actionable recommendations supported by the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 Display"/>
              </a:defRPr>
            </a:pPr>
            <a:r>
              <a:t>Dataset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9,994 sales-line records | 5,009 distinct orders | 793 customers</a:t>
            </a:r>
          </a:p>
          <a:p>
            <a:pPr>
              <a:spcAft>
                <a:spcPts val="1200"/>
              </a:spcAft>
              <a:defRPr sz="2100"/>
            </a:pPr>
            <a:r>
              <a:t>Period covered: 2014-01-03 to 2017-12-30</a:t>
            </a:r>
          </a:p>
          <a:p>
            <a:pPr>
              <a:spcAft>
                <a:spcPts val="1200"/>
              </a:spcAft>
              <a:defRPr sz="2100"/>
            </a:pPr>
            <a:r>
              <a:t>Prepared analysis-ready data and derived year/month and profit-margin fields.</a:t>
            </a:r>
          </a:p>
          <a:p>
            <a:pPr>
              <a:spcAft>
                <a:spcPts val="1200"/>
              </a:spcAft>
              <a:defRPr sz="2100"/>
            </a:pPr>
            <a:r>
              <a:t>Used SQL for grouped business analysis; Excel and HTML dashboards for visualization.</a:t>
            </a:r>
          </a:p>
          <a:p>
            <a:pPr>
              <a:spcAft>
                <a:spcPts val="1200"/>
              </a:spcAft>
              <a:defRPr sz="2100"/>
            </a:pPr>
            <a:r>
              <a:t>Deliverables: cleaned dataset, SQL, database, dashboard, report, and this presentation.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 Display"/>
              </a:defRPr>
            </a:pPr>
            <a:r>
              <a:t>KPI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Total Sales: $2,297,200.86</a:t>
            </a:r>
          </a:p>
          <a:p>
            <a:pPr>
              <a:spcAft>
                <a:spcPts val="1200"/>
              </a:spcAft>
              <a:defRPr sz="2100"/>
            </a:pPr>
            <a:r>
              <a:t>Total Profit: $286,397.02</a:t>
            </a:r>
          </a:p>
          <a:p>
            <a:pPr>
              <a:spcAft>
                <a:spcPts val="1200"/>
              </a:spcAft>
              <a:defRPr sz="2100"/>
            </a:pPr>
            <a:r>
              <a:t>Profit Margin: 12.47%</a:t>
            </a:r>
          </a:p>
          <a:p>
            <a:pPr>
              <a:spcAft>
                <a:spcPts val="1200"/>
              </a:spcAft>
              <a:defRPr sz="2100"/>
            </a:pPr>
            <a:r>
              <a:t>Units Sold: 37,873</a:t>
            </a:r>
          </a:p>
          <a:p>
            <a:pPr>
              <a:spcAft>
                <a:spcPts val="1200"/>
              </a:spcAft>
              <a:defRPr sz="2100"/>
            </a:pPr>
            <a:r>
              <a:t>Distinct Orders: 5,009 | Distinct Customers: 793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 Display"/>
              </a:defRPr>
            </a:pPr>
            <a:r>
              <a:t>Regional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West: sales $725,457.82 | profit $108,418.45</a:t>
            </a:r>
          </a:p>
          <a:p>
            <a:pPr>
              <a:spcAft>
                <a:spcPts val="1200"/>
              </a:spcAft>
              <a:defRPr sz="2100"/>
            </a:pPr>
            <a:r>
              <a:t>East: sales $678,781.24 | profit $91,522.78</a:t>
            </a:r>
          </a:p>
          <a:p>
            <a:pPr>
              <a:spcAft>
                <a:spcPts val="1200"/>
              </a:spcAft>
              <a:defRPr sz="2100"/>
            </a:pPr>
            <a:r>
              <a:t>Central: sales $501,239.89 | profit $39,706.36</a:t>
            </a:r>
          </a:p>
          <a:p>
            <a:pPr>
              <a:spcAft>
                <a:spcPts val="1200"/>
              </a:spcAft>
              <a:defRPr sz="2100"/>
            </a:pPr>
            <a:r>
              <a:t>South: sales $391,721.91 | profit $46,749.43</a:t>
            </a:r>
          </a:p>
          <a:p>
            <a:pPr>
              <a:spcAft>
                <a:spcPts val="1200"/>
              </a:spcAft>
              <a:defRPr sz="2100"/>
            </a:pPr>
            <a:r>
              <a:t>West leads sales and profit.</a:t>
            </a:r>
          </a:p>
          <a:p>
            <a:pPr>
              <a:spcAft>
                <a:spcPts val="1200"/>
              </a:spcAft>
              <a:defRPr sz="2100"/>
            </a:pPr>
            <a:r>
              <a:t>Central has the lowest profit; investigate product mix, discounts, and cost drivers.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 Display"/>
              </a:defRPr>
            </a:pPr>
            <a:r>
              <a:t>Product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Technology: sales $836,154.03 | profit $145,454.95</a:t>
            </a:r>
          </a:p>
          <a:p>
            <a:pPr>
              <a:spcAft>
                <a:spcPts val="1200"/>
              </a:spcAft>
              <a:defRPr sz="2100"/>
            </a:pPr>
            <a:r>
              <a:t>Furniture: sales $741,999.80 | profit $18,451.27</a:t>
            </a:r>
          </a:p>
          <a:p>
            <a:pPr>
              <a:spcAft>
                <a:spcPts val="1200"/>
              </a:spcAft>
              <a:defRPr sz="2100"/>
            </a:pPr>
            <a:r>
              <a:t>Office Supplies: sales $719,047.03 | profit $122,490.80</a:t>
            </a:r>
          </a:p>
          <a:p>
            <a:pPr>
              <a:spcAft>
                <a:spcPts val="1200"/>
              </a:spcAft>
              <a:defRPr sz="2100"/>
            </a:pPr>
            <a:r>
              <a:t>Technology is the leading category by sales and profit.</a:t>
            </a:r>
          </a:p>
          <a:p>
            <a:pPr>
              <a:spcAft>
                <a:spcPts val="1200"/>
              </a:spcAft>
              <a:defRPr sz="2100"/>
            </a:pPr>
            <a:r>
              <a:t>Furniture has relatively low profit compared with its sales volume.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 Display"/>
              </a:defRPr>
            </a:pPr>
            <a:r>
              <a:t>Risk Areas &amp; Time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Tables: profit $-17,725.48</a:t>
            </a:r>
          </a:p>
          <a:p>
            <a:pPr>
              <a:spcAft>
                <a:spcPts val="1200"/>
              </a:spcAft>
              <a:defRPr sz="2100"/>
            </a:pPr>
            <a:r>
              <a:t>Bookcases: profit $-3,472.56</a:t>
            </a:r>
          </a:p>
          <a:p>
            <a:pPr>
              <a:spcAft>
                <a:spcPts val="1200"/>
              </a:spcAft>
              <a:defRPr sz="2100"/>
            </a:pPr>
            <a:r>
              <a:t>Supplies: profit $-1,189.10</a:t>
            </a:r>
          </a:p>
          <a:p>
            <a:pPr>
              <a:spcAft>
                <a:spcPts val="1200"/>
              </a:spcAft>
              <a:defRPr sz="2100"/>
            </a:pPr>
            <a:r>
              <a:t>Fasteners: profit $949.52</a:t>
            </a:r>
          </a:p>
          <a:p>
            <a:pPr>
              <a:spcAft>
                <a:spcPts val="1200"/>
              </a:spcAft>
              <a:defRPr sz="2100"/>
            </a:pPr>
            <a:r>
              <a:t>Machines: profit $3,384.76</a:t>
            </a:r>
          </a:p>
          <a:p>
            <a:pPr>
              <a:spcAft>
                <a:spcPts val="1200"/>
              </a:spcAft>
              <a:defRPr sz="2100"/>
            </a:pPr>
            <a:r>
              <a:t>Highest-sales month: 2017-11 ($118,447.82).</a:t>
            </a:r>
          </a:p>
          <a:p>
            <a:pPr>
              <a:spcAft>
                <a:spcPts val="1200"/>
              </a:spcAft>
              <a:defRPr sz="2100"/>
            </a:pPr>
            <a:r>
              <a:t>Investigate product-level discount and margin patterns before changing pricing.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 Display"/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Review losses in Tables, Bookcases, and Supplies at product/order level.</a:t>
            </a:r>
          </a:p>
          <a:p>
            <a:pPr>
              <a:spcAft>
                <a:spcPts val="1200"/>
              </a:spcAft>
              <a:defRPr sz="2100"/>
            </a:pPr>
            <a:r>
              <a:t>Set discount guardrails that consider profit margin, not sales alone.</a:t>
            </a:r>
          </a:p>
          <a:p>
            <a:pPr>
              <a:spcAft>
                <a:spcPts val="1200"/>
              </a:spcAft>
              <a:defRPr sz="2100"/>
            </a:pPr>
            <a:r>
              <a:t>Study Central region's lower profit and compare its product mix with West.</a:t>
            </a:r>
          </a:p>
          <a:p>
            <a:pPr>
              <a:spcAft>
                <a:spcPts val="1200"/>
              </a:spcAft>
              <a:defRPr sz="2100"/>
            </a:pPr>
            <a:r>
              <a:t>Plan inventory and campaigns around historically strong sales months.</a:t>
            </a:r>
          </a:p>
          <a:p>
            <a:pPr>
              <a:spcAft>
                <a:spcPts val="1200"/>
              </a:spcAft>
              <a:defRPr sz="2100"/>
            </a:pPr>
            <a:r>
              <a:t>Track the KPI scorecard monthly and drill down by region, category, and segment.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 Display"/>
              </a:defRPr>
            </a:pPr>
            <a: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Descriptive analysis shows patterns but does not prove cause and effect.</a:t>
            </a:r>
          </a:p>
          <a:p>
            <a:pPr>
              <a:spcAft>
                <a:spcPts val="1200"/>
              </a:spcAft>
              <a:defRPr sz="2100"/>
            </a:pPr>
            <a:r>
              <a:t>Marketing costs, inventory availability, and customer satisfaction were not included.</a:t>
            </a:r>
          </a:p>
          <a:p>
            <a:pPr>
              <a:spcAft>
                <a:spcPts val="1200"/>
              </a:spcAft>
              <a:defRPr sz="2100"/>
            </a:pPr>
            <a:r>
              <a:t>Validate findings with business owners and original-source checks.</a:t>
            </a:r>
          </a:p>
          <a:p>
            <a:pPr>
              <a:spcAft>
                <a:spcPts val="1200"/>
              </a:spcAft>
              <a:defRPr sz="2100"/>
            </a:pPr>
            <a:r>
              <a:t>Extend the work with customer cohort/retention analysis and a discount-profit study.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The dataset generated about $2.30M in sales and $286.4K in profit.</a:t>
            </a:r>
          </a:p>
          <a:p>
            <a:pPr>
              <a:spcAft>
                <a:spcPts val="1200"/>
              </a:spcAft>
              <a:defRPr sz="2100"/>
            </a:pPr>
            <a:r>
              <a:t>Performance differs meaningfully across regions and product sub-categories.</a:t>
            </a:r>
          </a:p>
          <a:p>
            <a:pPr>
              <a:spcAft>
                <a:spcPts val="1200"/>
              </a:spcAft>
              <a:defRPr sz="2100"/>
            </a:pPr>
            <a:r>
              <a:t>A focus on margin management and loss-making sub-categories may improve profitability.</a:t>
            </a:r>
          </a:p>
          <a:p>
            <a:pPr>
              <a:spcAft>
                <a:spcPts val="1200"/>
              </a:spcAft>
              <a:defRPr sz="2100"/>
            </a:pPr>
            <a:r>
              <a:t>The dashboard supports ongoing monitoring and data-informed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